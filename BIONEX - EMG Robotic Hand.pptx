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Fira Code"/>
      <p:regular r:id="rId23"/>
      <p:bold r:id="rId24"/>
    </p:embeddedFont>
    <p:embeddedFont>
      <p:font typeface="Rajdhani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FiraCode-bold.fntdata"/><Relationship Id="rId23" Type="http://schemas.openxmlformats.org/officeDocument/2006/relationships/font" Target="fonts/FiraCod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jdhani-bold.fntdata"/><Relationship Id="rId25" Type="http://schemas.openxmlformats.org/officeDocument/2006/relationships/font" Target="fonts/Rajdhani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7.png"/><Relationship Id="rId8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6.png"/><Relationship Id="rId5" Type="http://schemas.openxmlformats.org/officeDocument/2006/relationships/image" Target="../media/image15.png"/><Relationship Id="rId6" Type="http://schemas.openxmlformats.org/officeDocument/2006/relationships/image" Target="../media/image31.png"/><Relationship Id="rId7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8.png"/><Relationship Id="rId5" Type="http://schemas.openxmlformats.org/officeDocument/2006/relationships/image" Target="../media/image30.jp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Gemini_Generated_Image_c4j179c4j179c4j1.png"/>
          <p:cNvPicPr preferRelativeResize="0"/>
          <p:nvPr/>
        </p:nvPicPr>
        <p:blipFill rotWithShape="1">
          <a:blip r:embed="rId3">
            <a:alphaModFix/>
          </a:blip>
          <a:srcRect b="8074" l="0" r="0" t="8082"/>
          <a:stretch/>
        </p:blipFill>
        <p:spPr>
          <a:xfrm>
            <a:off x="0" y="0"/>
            <a:ext cx="12192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08844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BIONEX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23344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Hybrid BCI</a:t>
            </a:r>
            <a:r>
              <a:rPr lang="en-US" sz="2400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-Controlled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Rajdhani"/>
                <a:ea typeface="Rajdhani"/>
                <a:cs typeface="Rajdhani"/>
                <a:sym typeface="Rajdhani"/>
              </a:rPr>
              <a:t> Robotic Prosthetic Arm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91937"/>
            <a:ext cx="1139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Engineering Final </a:t>
            </a:r>
            <a:r>
              <a:rPr lang="en-US" sz="1200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Project:</a:t>
            </a:r>
            <a:r>
              <a:rPr b="0" i="0" lang="en-US" sz="1200" cap="none" strike="noStrike">
                <a:solidFill>
                  <a:srgbClr val="F1F5F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200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BCI and ESP32 Based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4040"/>
            <a:ext cx="5286375" cy="3823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84040"/>
            <a:ext cx="5286375" cy="382324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66775" y="2379315"/>
            <a:ext cx="168021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CA5A5"/>
                </a:solidFill>
                <a:latin typeface="Rajdhani"/>
                <a:ea typeface="Rajdhani"/>
                <a:cs typeface="Rajdhani"/>
                <a:sym typeface="Rajdhani"/>
              </a:rPr>
              <a:t>THE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66775" y="299844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Advanced prosthetics are expensive (&gt;$10,000) and often inaccessible.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3989040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Existing low-cost myoelectric (EMG-only) solutions lack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adaptability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needed for complex tasks, requiring awkward muscle commands for mode-switching.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29400" y="2379315"/>
            <a:ext cx="182022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THE OBJECTIVE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29400" y="2998440"/>
            <a:ext cx="4695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To develop a low-cost, 3D-printed bionic arm (Inmoov-based) using a </a:t>
            </a:r>
            <a:r>
              <a:rPr b="1"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hybrid brain-computer interface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(BCI)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29400" y="3989040"/>
            <a:ext cx="155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system fuses: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38884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388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6953250" y="463578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10400" y="4636740"/>
            <a:ext cx="43148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EMG: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Proportional control for grasping force.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953250" y="491007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10400" y="4911030"/>
            <a:ext cx="43148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EEG: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Cognitive commands (attention, eye blinks) for mode/gesture switching.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PROBLEM STATEMENT &amp; OBJECTIVE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468224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title="pngwing.com.png"/>
          <p:cNvPicPr preferRelativeResize="0"/>
          <p:nvPr/>
        </p:nvPicPr>
        <p:blipFill rotWithShape="1">
          <a:blip r:embed="rId4">
            <a:alphaModFix/>
          </a:blip>
          <a:srcRect b="-15249" l="-5263" r="-7197" t="-10885"/>
          <a:stretch/>
        </p:blipFill>
        <p:spPr>
          <a:xfrm>
            <a:off x="435325" y="1795463"/>
            <a:ext cx="2913156" cy="326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66019"/>
            <a:ext cx="254793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16781" y="5014019"/>
            <a:ext cx="195024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ESP32 MICROCONTROLLER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5385494"/>
            <a:ext cx="25479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Processing for real-time sensor data and control.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5187" y="1966019"/>
            <a:ext cx="254793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641088" y="5015563"/>
            <a:ext cx="2283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EEG</a:t>
            </a: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 </a:t>
            </a:r>
            <a:r>
              <a:rPr b="1" lang="en-US" sz="1404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SENSOR</a:t>
            </a: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 (BCI)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405187" y="5385494"/>
            <a:ext cx="25479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Reads cognitive signals for gesture mode switching.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98456" y="5014019"/>
            <a:ext cx="1710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BIOAMP PATCHY (EMG)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238875" y="5385494"/>
            <a:ext cx="25479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Detects muscle potentials for grasping action.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1966019"/>
            <a:ext cx="2547937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9575006" y="5014019"/>
            <a:ext cx="16203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MG9</a:t>
            </a:r>
            <a:r>
              <a:rPr b="1" lang="en-US" sz="1404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0s</a:t>
            </a: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 SERVOS (X5)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072562" y="5385494"/>
            <a:ext cx="254793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High-torque actuators for finger control and force.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02906" y="2918519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title="Muscle-BioAmp-Patchy-Assembled-Front.png"/>
          <p:cNvPicPr preferRelativeResize="0"/>
          <p:nvPr/>
        </p:nvPicPr>
        <p:blipFill rotWithShape="1">
          <a:blip r:embed="rId8">
            <a:alphaModFix/>
          </a:blip>
          <a:srcRect b="-124421" l="-978" r="-978" t="-92737"/>
          <a:stretch/>
        </p:blipFill>
        <p:spPr>
          <a:xfrm>
            <a:off x="6289125" y="1935507"/>
            <a:ext cx="2528886" cy="283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title="pngwing.com (1).png"/>
          <p:cNvPicPr preferRelativeResize="0"/>
          <p:nvPr/>
        </p:nvPicPr>
        <p:blipFill rotWithShape="1">
          <a:blip r:embed="rId9">
            <a:alphaModFix/>
          </a:blip>
          <a:srcRect b="12994" l="14977" r="31853" t="44470"/>
          <a:stretch/>
        </p:blipFill>
        <p:spPr>
          <a:xfrm>
            <a:off x="9154006" y="2441418"/>
            <a:ext cx="2283300" cy="182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CORE HARDWARE COMPONENTS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title="Picture1.png"/>
          <p:cNvPicPr preferRelativeResize="0"/>
          <p:nvPr/>
        </p:nvPicPr>
        <p:blipFill rotWithShape="1">
          <a:blip r:embed="rId4">
            <a:alphaModFix/>
          </a:blip>
          <a:srcRect b="-24724" l="-1408" r="-1408" t="-13016"/>
          <a:stretch/>
        </p:blipFill>
        <p:spPr>
          <a:xfrm>
            <a:off x="6334125" y="2088356"/>
            <a:ext cx="5286375" cy="38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2088356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ARCHITECTURE LAYERS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52500" y="2459831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Input Layer: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EMG (Muscle) and EEG (Cognitive) signals are acquired.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52500" y="3320653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Communication Layer: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Bluetooth links EEG data to the ESP32.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4181475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Processing &amp; Control: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ESP32 handles dual logic and actuation.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52500" y="5042296"/>
            <a:ext cx="4905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Output Layer: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5 Servos control the 3D-printed Inmoov hand structure.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SYSTEM ARCHITECTURE: BIONEX HYBRID CONTROL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5983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0653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147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42296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43150"/>
            <a:ext cx="5286375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43325"/>
            <a:ext cx="3587353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71500" y="23431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EMG FOR PROPORTIONAL CONTROL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71500" y="275272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EMG amplitude is directly proportional to the force of muscle contraction.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46101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system translates varying muscle intensity into a smooth range of servo positions, allowing for nuanced grasping.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353300" y="2638425"/>
            <a:ext cx="341042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ADC SAFETY &amp; NOISE REDUCTION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629400" y="3257550"/>
            <a:ext cx="469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analog EMG output is conditioned for the ESP32's 3.3V ADC input using a </a:t>
            </a:r>
            <a:r>
              <a:rPr b="1"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voltage divider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(10kΩ/22kΩ)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29400" y="4248150"/>
            <a:ext cx="4695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Digital filtering (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moving average)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is crucial to reduce high-frequency muscle noise and ensure a stable control signal.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53300" y="26479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EMG &amp; ADC SIGNAL CONDITIONING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7887"/>
            <a:ext cx="5286375" cy="3695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5487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919525" y="3176587"/>
            <a:ext cx="259032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EMG PROCESSING (ACTION)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728787" y="3795712"/>
            <a:ext cx="297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Proportional control of grasp.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512129" y="3024187"/>
            <a:ext cx="29303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EEG PROCESSING (SWITCHING)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058025" y="3643312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Switch between programmed gestures.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4662" y="247173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1219200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285875" y="4462462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Rectification &amp; Envelope Generation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219200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285875" y="4767262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PID Control Logic (for smooth force application)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219200" y="5072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285875" y="5072062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Output: Continuous servo position angle.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20137" y="23193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753225" y="4310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6819900" y="4310062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Attention/Meditation Levels from BCI data.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753225" y="46148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6819900" y="4614862"/>
            <a:ext cx="450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Blink 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detection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for instantaneous switching.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753225" y="4919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819900" y="4919662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Output: Discrete State Change (e.g., from Pinch Mode to Power Grasp Mode).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DUAL SIGNAL PROCESSING PIPELINE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571500"/>
            <a:ext cx="52006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CIRCUIT &amp; MECHANICAL INTEGRATION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571500" y="1895475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title="Gemini_Generated_Image_vo83wrvo83wrvo83.png"/>
          <p:cNvPicPr preferRelativeResize="0"/>
          <p:nvPr/>
        </p:nvPicPr>
        <p:blipFill rotWithShape="1">
          <a:blip r:embed="rId5">
            <a:alphaModFix/>
          </a:blip>
          <a:srcRect b="-60390" l="-2333" r="-43523" t="-21892"/>
          <a:stretch/>
        </p:blipFill>
        <p:spPr>
          <a:xfrm>
            <a:off x="6096000" y="887975"/>
            <a:ext cx="85469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52500" y="2477988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Mechanical Base: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The hand and forearm were constructed using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3D-printed parts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based on the open-source Inmoov project.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2500" y="3673971"/>
            <a:ext cx="4572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Power Safety: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A powerful </a:t>
            </a:r>
            <a:r>
              <a:rPr b="1" lang="en-US" sz="16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external</a:t>
            </a: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5V PSU (3-5A)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is mandatory for the 5 MG996R servos.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52500" y="4534792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Common Ground: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Essential link between the external PSU and the ESP32 for stable control.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952500" y="5395614"/>
            <a:ext cx="45720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Actuation: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5 </a:t>
            </a:r>
            <a:r>
              <a:rPr lang="en-US" sz="165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servos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mapped to 5 distinct ESP32 LEDC PWM channels.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77988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73971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479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95614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86375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571500" y="20097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LEDC HARDWARE PWM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571500" y="24193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ESP32's LEDC peripheral generates stable, high-resolution PWM signals (10-12 bit) necessary for precise and smooth servo positioning.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37052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ANGLE STEPPING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571500" y="41148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Instead of instantaneous movement, the code uses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incremental angle steps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7512129" y="3019425"/>
            <a:ext cx="293036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SERIAL MOTOR CONTROL MODE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629400" y="3638550"/>
            <a:ext cx="469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 secondary mode implemented via serial commands (e.g., s1 90, 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all)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180) allows for: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85825" y="4914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52500" y="491490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servo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target angle is reached gradually.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85825" y="52197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952500" y="52197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Result: Fluid, natural motion, preventing abrupt mechanical wear.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20137" y="231457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6853237" y="46196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919912" y="461962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Precise servo calibration and trimming.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853237" y="49244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919912" y="4924425"/>
            <a:ext cx="430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Debugging complex movement sequences.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853237" y="5229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919912" y="5229225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Manual testing of the high-torque MG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90s servo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motors.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ACTUATION: PWM AND SMOOTH MOTION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52067"/>
            <a:ext cx="5286375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571500" y="225206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1F5F9"/>
                </a:solidFill>
                <a:latin typeface="Rajdhani"/>
                <a:ea typeface="Rajdhani"/>
                <a:cs typeface="Rajdhani"/>
                <a:sym typeface="Rajdhani"/>
              </a:rPr>
              <a:t>CORE ALGORITHM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571500" y="266164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system is governed by a state machine: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1333500" y="3156942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Mode Determination: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EEG data sets the current hand gesture/state (e.g., Pinch, Relax, Power).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1333500" y="4017764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Execution: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EMG data determines the proportional force/position within that selected state.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1333500" y="4878585"/>
            <a:ext cx="4524375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Calibration: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Dynamic thresholds (Relax/Flex) are established upon startup.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534150" y="2452092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Simplified Servo Update Logic for Proportional Control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7296150" y="2652117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7772400" y="2652117"/>
            <a:ext cx="1809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updateServoPosition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677400" y="265211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10820400" y="265211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6534150" y="2852142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Map filtered EMG (e.g., 500-4095) to Servo Angle (0-180)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724900" y="305216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9867900" y="305216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map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1010900" y="305216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500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534150" y="3252192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4095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105650" y="3252192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391400" y="325219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180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534150" y="3252192"/>
            <a:ext cx="4191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Limit movement to prevent mechanical lock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8820150" y="345221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constrain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0439400" y="3452217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0725150" y="345221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180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534150" y="3652242"/>
            <a:ext cx="361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Smooth transition using angle steps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534150" y="3852267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incrementallySetServo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582150" y="3852267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void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0058400" y="3852267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loop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534150" y="3852267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1. Read Inputs (EMG &amp; BCI/EEG)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201150" y="4052292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534150" y="4252317"/>
            <a:ext cx="1524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readAndFilterEMG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8439150" y="4252317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084FC"/>
                </a:solidFill>
                <a:latin typeface="Fira Code"/>
                <a:ea typeface="Fira Code"/>
                <a:cs typeface="Fira Code"/>
                <a:sym typeface="Fira Code"/>
              </a:rPr>
              <a:t>int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6534150" y="4452342"/>
            <a:ext cx="1333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getGestureMode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248650" y="4452342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From EEG/BCI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6534150" y="4452342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Fira Code"/>
                <a:ea typeface="Fira Code"/>
                <a:cs typeface="Fira Code"/>
                <a:sym typeface="Fira Code"/>
              </a:rPr>
              <a:t>// 2. Execute Action based on Mode and EMG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6534150" y="4852392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executeModeAction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6534150" y="5052417"/>
            <a:ext cx="476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delay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7105650" y="5052417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20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SOFTWARE IMPLEMENTATION &amp; ALGORITHM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15694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017764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4878585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571500" y="571500"/>
            <a:ext cx="5200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RESULTS &amp; VALIDATION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571500" y="1304925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2" title="WhatsApp Image 2025-12-01 at 23.53.18_b0ba5472.jpg"/>
          <p:cNvPicPr preferRelativeResize="0"/>
          <p:nvPr/>
        </p:nvPicPr>
        <p:blipFill rotWithShape="1">
          <a:blip r:embed="rId5">
            <a:alphaModFix/>
          </a:blip>
          <a:srcRect b="14493" l="1332" r="0" t="4311"/>
          <a:stretch/>
        </p:blipFill>
        <p:spPr>
          <a:xfrm>
            <a:off x="6096000" y="0"/>
            <a:ext cx="6096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 txBox="1"/>
          <p:nvPr/>
        </p:nvSpPr>
        <p:spPr>
          <a:xfrm>
            <a:off x="952500" y="2015132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Hybrid Control: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Successful demonstration of **EEG mode switching** (e.g., blink to change grip) and **EMG proportional grasping**.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952500" y="3211115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Reliability: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Anti-chatter logic and dynamic calibration ensure stable operation.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952500" y="4071937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Mechanical: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The 3D-printed Inmoov structure provided the low-cost, modular base required.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952500" y="4932759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Performance: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High-torque MG996R servos provided sufficient force for grasping common objects.</a:t>
            </a:r>
            <a:endParaRPr/>
          </a:p>
        </p:txBody>
      </p:sp>
      <p:pic>
        <p:nvPicPr>
          <p:cNvPr descr="image.png" id="292" name="Google Shape;29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1513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1115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71937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32759"/>
            <a:ext cx="1333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19337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19337"/>
            <a:ext cx="3492549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1342578" y="3348037"/>
            <a:ext cx="195024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SENSORY FEEDBACK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866775" y="39671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Integrate pressure/haptic sensors in fingertips to provide real-time force feedback to the user.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5250894" y="3348037"/>
            <a:ext cx="169021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MINIATURIZATION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4645074" y="39671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Develop a custom, shielded PCB to integrate all components (EMG/BCI receiver) into a small, wearable form factor.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8479125" y="3348037"/>
            <a:ext cx="279034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Rajdhani"/>
                <a:ea typeface="Rajdhani"/>
                <a:cs typeface="Rajdhani"/>
                <a:sym typeface="Rajdhani"/>
              </a:rPr>
              <a:t>LIPO POWER &amp; MANAGEMENT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8423374" y="39671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Develop a robust, integrated LiPo battery management system (7.4V) for full portability and extended use.</a:t>
            </a:r>
            <a:endParaRPr/>
          </a:p>
        </p:txBody>
      </p:sp>
      <p:pic>
        <p:nvPicPr>
          <p:cNvPr descr="image.png" id="310" name="Google Shape;31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64318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3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FUTURE SCOPE</a:t>
            </a: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571500" y="2986087"/>
            <a:ext cx="52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BIONEX successfully validates the concept of a 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hybrid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BCI prosthetic arm that is both highly functional and economically viable.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571500" y="40909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The fusion of EMG for proportional action and EEG for cognitive mode-switching provides a more intuitive and versatile control scheme than traditional myoelectric devices.</a:t>
            </a:r>
            <a:endParaRPr/>
          </a:p>
        </p:txBody>
      </p:sp>
      <p:pic>
        <p:nvPicPr>
          <p:cNvPr descr="image.png" id="322" name="Google Shape;3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2450" y="3281362"/>
            <a:ext cx="16097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4"/>
          <p:cNvSpPr txBox="1"/>
          <p:nvPr/>
        </p:nvSpPr>
        <p:spPr>
          <a:xfrm>
            <a:off x="571500" y="571500"/>
            <a:ext cx="11601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Rajdhani"/>
                <a:ea typeface="Rajdhani"/>
                <a:cs typeface="Rajdhani"/>
                <a:sym typeface="Rajdhani"/>
              </a:rPr>
              <a:t>CONCLUSION</a:t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571500" y="130492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5"/>
          <p:cNvSpPr txBox="1"/>
          <p:nvPr/>
        </p:nvSpPr>
        <p:spPr>
          <a:xfrm>
            <a:off x="295275" y="1642169"/>
            <a:ext cx="11601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THANK YOU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571500" y="335666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Rajdhani"/>
                <a:ea typeface="Rajdhani"/>
                <a:cs typeface="Rajdhani"/>
                <a:sym typeface="Rajdhani"/>
              </a:rPr>
              <a:t>Questions?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571500" y="472053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github.com/</a:t>
            </a:r>
            <a:r>
              <a:rPr lang="en-US" sz="15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IAbhisek/BIONEX</a:t>
            </a:r>
            <a:endParaRPr/>
          </a:p>
        </p:txBody>
      </p:sp>
      <p:pic>
        <p:nvPicPr>
          <p:cNvPr descr="image.png" id="333" name="Google Shape;33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4450" y="4626703"/>
            <a:ext cx="479900" cy="41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